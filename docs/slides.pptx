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05A8A"/>
                </a:solidFill>
                <a:latin typeface="Arial"/>
              </a:rPr>
              <a:t>TEAM BEACON · CODE WITH CISCO · PHASE 2: THE CONTINUOUS MESH AND THE RATCHET EFFECT</a:t>
            </a:r>
          </a:p>
          <a:p>
            <a:pPr>
              <a:spcBef>
                <a:spcPts val="400"/>
              </a:spcBef>
            </a:pPr>
            <a:r>
              <a:rPr sz="2700" b="1" i="0">
                <a:solidFill>
                  <a:srgbClr val="14202B"/>
                </a:solidFill>
                <a:latin typeface="Arial"/>
              </a:rPr>
              <a:t>Cognition Fabric: a shared memory that agents have to earn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B6A78"/>
                </a:solidFill>
                <a:latin typeface="Arial"/>
              </a:rPr>
              <a:t>Soumyakanta Panda · Balla Pranava Chaitanya · Srujan K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406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202B"/>
                </a:solidFill>
                <a:latin typeface="Arial"/>
              </a:rPr>
              <a:t>The problem we solve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2B"/>
                </a:solidFill>
                <a:latin typeface="Arial"/>
              </a:rPr>
              <a:t>A mesh of autonomous agents solves incidents all day, then forgets. Every site pays full discovery cost for the same problem, and a restart wipes the learning.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2B"/>
                </a:solidFill>
                <a:latin typeface="Arial"/>
              </a:rPr>
              <a:t>Naively sharing what agents “learned” is worse: hallucinated fixes spread, poisoned knowledge persists, and two sites can hold conflicting fixes that are both valid in their own contexts.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50" b="0" i="0">
                <a:solidFill>
                  <a:srgbClr val="14202B"/>
                </a:solidFill>
                <a:latin typeface="Arial"/>
              </a:rPr>
              <a:t>Phase 2 asks for a fabric that captures a local breakthrough, verifies it autonomously before acceptance, propagates it fast, and shows measurable reuse. Poison removal must work without resetting collective memory.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074920"/>
            <a:ext cx="45720" cy="1051560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074920"/>
            <a:ext cx="5394960" cy="1051560"/>
          </a:xfrm>
          <a:prstGeom prst="rect">
            <a:avLst/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4202B"/>
                </a:solidFill>
                <a:latin typeface="Arial"/>
              </a:rPr>
              <a:t>Phase 1 was </a:t>
            </a:r>
            <a:r>
              <a:rPr sz="1150" b="1" i="0">
                <a:solidFill>
                  <a:srgbClr val="14202B"/>
                </a:solidFill>
                <a:latin typeface="Arial"/>
              </a:rPr>
              <a:t>contracts, not conversations</a:t>
            </a:r>
            <a:r>
              <a:rPr sz="1150" b="0" i="0">
                <a:solidFill>
                  <a:srgbClr val="14202B"/>
                </a:solidFill>
                <a:latin typeface="Arial"/>
              </a:rPr>
              <a:t>. Phase 2 is </a:t>
            </a:r>
            <a:r>
              <a:rPr sz="1150" b="1" i="0">
                <a:solidFill>
                  <a:srgbClr val="14202B"/>
                </a:solidFill>
                <a:latin typeface="Arial"/>
              </a:rPr>
              <a:t>evidence, not claims</a:t>
            </a:r>
            <a:r>
              <a:rPr sz="1150" b="0" i="0">
                <a:solidFill>
                  <a:srgbClr val="14202B"/>
                </a:solidFill>
                <a:latin typeface="Arial"/>
              </a:rPr>
              <a:t>: nothing enters collective memory because an agent said so. It enters because its claim survived re-execution.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440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202B"/>
                </a:solidFill>
                <a:latin typeface="Arial"/>
              </a:rPr>
              <a:t>Methodology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080" b="0" i="0">
                <a:solidFill>
                  <a:srgbClr val="14202B"/>
                </a:solidFill>
                <a:latin typeface="Arial"/>
              </a:rPr>
              <a:t>An insight is a </a:t>
            </a:r>
            <a:r>
              <a:rPr sz="1080" b="1" i="0">
                <a:solidFill>
                  <a:srgbClr val="14202B"/>
                </a:solidFill>
                <a:latin typeface="Arial"/>
              </a:rPr>
              <a:t>capsule</a:t>
            </a:r>
            <a:r>
              <a:rPr sz="1080" b="0" i="0">
                <a:solidFill>
                  <a:srgbClr val="14202B"/>
                </a:solidFill>
                <a:latin typeface="Arial"/>
              </a:rPr>
              <a:t>: a typed decision rule carrying a falsifiable claim, the seeds to replay it, its scope, and its provenance. Never free text, so machines can verify it.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080" b="0" i="0">
                <a:solidFill>
                  <a:srgbClr val="14202B"/>
                </a:solidFill>
                <a:latin typeface="Arial"/>
              </a:rPr>
              <a:t>Validation is execution. A jury of 3 agents, picked by the capsule's own hash so nobody can choose the committee, replays the claim with and without the capsule on scenarios the author never saw.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080" b="0" i="0">
                <a:solidFill>
                  <a:srgbClr val="14202B"/>
                </a:solidFill>
                <a:latin typeface="Arial"/>
              </a:rPr>
              <a:t>The guardrail (</a:t>
            </a:r>
            <a:r>
              <a:rPr sz="1080" b="1" i="0">
                <a:solidFill>
                  <a:srgbClr val="14202B"/>
                </a:solidFill>
                <a:latin typeface="Arial"/>
              </a:rPr>
              <a:t>the Pawl</a:t>
            </a:r>
            <a:r>
              <a:rPr sz="1080" b="0" i="0">
                <a:solidFill>
                  <a:srgbClr val="14202B"/>
                </a:solidFill>
                <a:latin typeface="Arial"/>
              </a:rPr>
              <a:t>) is structural: capsules may tighten safety bounds, never loosen them. Loosening needs a signed human token.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080" b="0" i="0">
                <a:solidFill>
                  <a:srgbClr val="14202B"/>
                </a:solidFill>
                <a:latin typeface="Arial"/>
              </a:rPr>
              <a:t>We assume some poison still gets in. Sentinel probes re-test active memory on a pinned golden suite, a bisect finds the culprit in log time, and excision removes exactly the poisoned subtree.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080" b="0" i="0">
                <a:solidFill>
                  <a:srgbClr val="14202B"/>
                </a:solidFill>
                <a:latin typeface="Arial"/>
              </a:rPr>
              <a:t>Consistency in three layers: storage is a CRDT that merges without conflicts, meaning is scoped per context, and decisions come from one pure function that gives the same answer on every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15000"/>
            <a:ext cx="932688" cy="566928"/>
          </a:xfrm>
          <a:prstGeom prst="roundRect">
            <a:avLst>
              <a:gd name="adj" fmla="val 14000"/>
            </a:avLst>
          </a:prstGeom>
          <a:solidFill>
            <a:srgbClr val="EAF5FB"/>
          </a:solidFill>
          <a:ln w="9525">
            <a:solidFill>
              <a:srgbClr val="007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 i="0">
                <a:solidFill>
                  <a:srgbClr val="005A8A"/>
                </a:solidFill>
                <a:latin typeface="Arial"/>
              </a:rPr>
              <a:t>Pawl</a:t>
            </a:r>
          </a:p>
          <a:p>
            <a:pPr algn="ctr"/>
            <a:r>
              <a:rPr sz="750" b="0" i="0">
                <a:solidFill>
                  <a:srgbClr val="5B6A78"/>
                </a:solidFill>
                <a:latin typeface="Arial"/>
              </a:rPr>
              <a:t>static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5833872"/>
            <a:ext cx="192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79B8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632" y="5715000"/>
            <a:ext cx="932688" cy="566928"/>
          </a:xfrm>
          <a:prstGeom prst="roundRect">
            <a:avLst>
              <a:gd name="adj" fmla="val 14000"/>
            </a:avLst>
          </a:prstGeom>
          <a:solidFill>
            <a:srgbClr val="EAF5FB"/>
          </a:solidFill>
          <a:ln w="9525">
            <a:solidFill>
              <a:srgbClr val="007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 i="0">
                <a:solidFill>
                  <a:srgbClr val="005A8A"/>
                </a:solidFill>
                <a:latin typeface="Arial"/>
              </a:rPr>
              <a:t>Jury</a:t>
            </a:r>
          </a:p>
          <a:p>
            <a:pPr algn="ctr"/>
            <a:r>
              <a:rPr sz="750" b="0" i="0">
                <a:solidFill>
                  <a:srgbClr val="5B6A78"/>
                </a:solidFill>
                <a:latin typeface="Arial"/>
              </a:rPr>
              <a:t>replays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833872"/>
            <a:ext cx="192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79B8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5715000"/>
            <a:ext cx="932688" cy="566928"/>
          </a:xfrm>
          <a:prstGeom prst="roundRect">
            <a:avLst>
              <a:gd name="adj" fmla="val 14000"/>
            </a:avLst>
          </a:prstGeom>
          <a:solidFill>
            <a:srgbClr val="EAF5FB"/>
          </a:solidFill>
          <a:ln w="9525">
            <a:solidFill>
              <a:srgbClr val="007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 i="0">
                <a:solidFill>
                  <a:srgbClr val="005A8A"/>
                </a:solidFill>
                <a:latin typeface="Arial"/>
              </a:rPr>
              <a:t>Cert</a:t>
            </a:r>
          </a:p>
          <a:p>
            <a:pPr algn="ctr"/>
            <a:r>
              <a:rPr sz="750" b="0" i="0">
                <a:solidFill>
                  <a:srgbClr val="5B6A78"/>
                </a:solidFill>
                <a:latin typeface="Arial"/>
              </a:rPr>
              <a:t>2 of 3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5833872"/>
            <a:ext cx="192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79B8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92056" y="5715000"/>
            <a:ext cx="932688" cy="566928"/>
          </a:xfrm>
          <a:prstGeom prst="roundRect">
            <a:avLst>
              <a:gd name="adj" fmla="val 14000"/>
            </a:avLst>
          </a:prstGeom>
          <a:solidFill>
            <a:srgbClr val="EAF5FB"/>
          </a:solidFill>
          <a:ln w="9525">
            <a:solidFill>
              <a:srgbClr val="007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 i="0">
                <a:solidFill>
                  <a:srgbClr val="005A8A"/>
                </a:solidFill>
                <a:latin typeface="Arial"/>
              </a:rPr>
              <a:t>Shadow</a:t>
            </a:r>
          </a:p>
          <a:p>
            <a:pPr algn="ctr"/>
            <a:r>
              <a:rPr sz="750" b="0" i="0">
                <a:solidFill>
                  <a:srgbClr val="5B6A78"/>
                </a:solidFill>
                <a:latin typeface="Arial"/>
              </a:rPr>
              <a:t>mesh-wide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4744" y="5833872"/>
            <a:ext cx="192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79B8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16768" y="5715000"/>
            <a:ext cx="932688" cy="566928"/>
          </a:xfrm>
          <a:prstGeom prst="roundRect">
            <a:avLst>
              <a:gd name="adj" fmla="val 14000"/>
            </a:avLst>
          </a:prstGeom>
          <a:solidFill>
            <a:srgbClr val="EAF5FB"/>
          </a:solidFill>
          <a:ln w="9525">
            <a:solidFill>
              <a:srgbClr val="007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 i="0">
                <a:solidFill>
                  <a:srgbClr val="005A8A"/>
                </a:solidFill>
                <a:latin typeface="Arial"/>
              </a:rPr>
              <a:t>ACTIVE</a:t>
            </a:r>
          </a:p>
          <a:p>
            <a:pPr algn="ctr"/>
            <a:r>
              <a:rPr sz="750" b="0" i="0">
                <a:solidFill>
                  <a:srgbClr val="5B6A78"/>
                </a:solidFill>
                <a:latin typeface="Arial"/>
              </a:rPr>
              <a:t>derived locally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A78"/>
                </a:solidFill>
                <a:latin typeface="Arial"/>
              </a:rPr>
              <a:t>Cognition Fabric · Team Beacon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05A8A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05A8A"/>
                </a:solidFill>
                <a:latin typeface="Arial"/>
              </a:rPr>
              <a:t>WHAT IS COMPLETED</a:t>
            </a:r>
          </a:p>
          <a:p>
            <a:pPr>
              <a:spcBef>
                <a:spcPts val="400"/>
              </a:spcBef>
            </a:pPr>
            <a:r>
              <a:rPr sz="2700" b="1" i="0">
                <a:solidFill>
                  <a:srgbClr val="14202B"/>
                </a:solidFill>
                <a:latin typeface="Arial"/>
              </a:rPr>
              <a:t>All eight milestones built, tested, and demoable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5440680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206240"/>
              </a:tblGrid>
              <a:tr h="54864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T="27432" marB="27432">
                    <a:solidFill>
                      <a:srgbClr val="005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T="27432" marB="27432">
                    <a:solidFill>
                      <a:srgbClr val="005A8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M0 World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Simulated clock and bus, 3 incident classes, cost model, drifting task generator (Poisson arrivals, class mix and parameter drift)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M1 Baseline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5 site agents solving with bounded search, fabric off: the measured amnesia problem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M2 Store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Capsule schema, HMAC signing, content addressing, CRDT OR-set store, per-node JSONL persistence, crash and reload proven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M3 Validation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Pawl checks, hash-sortition jury, counterfactual replay, author-blind held-out scenarios, invariant checks, quorum certificates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M4 Mesh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Gossip anti-entropy, mesh-wide shadow staging with derived promotion, reuse before solve, twin-lane A/B economics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M5 Immune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Sentinel golden-suite probes, provenance bisect, excision with transitive quarantine, reputation slashing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M6 Chaos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Fault injector: partition, heal, node crash; minority-island cert demotion; Refine split on persistent overlap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M7 Demo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Live dashboard (5 panels) and two scripted, fully deterministic demos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4630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4202B"/>
                </a:solidFill>
                <a:latin typeface="Arial"/>
              </a:rPr>
              <a:t>The three dilemmas are answered as running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150" b="1" i="0">
                <a:solidFill>
                  <a:srgbClr val="005A8A"/>
                </a:solidFill>
                <a:latin typeface="Arial"/>
              </a:rPr>
              <a:t>A. Innovation vs. hallucination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000" b="0" i="0">
                <a:solidFill>
                  <a:srgbClr val="14202B"/>
                </a:solidFill>
                <a:latin typeface="Arial"/>
              </a:rPr>
              <a:t>A fabricated claim dies at counterfactual replay. A cherry-picked claim dies on author-blind scenarios. A true but unsafe gain dies at the invariant check. Each is a test that runs in front of you: tests/test_dilemma_a.py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399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150" b="1" i="0">
                <a:solidFill>
                  <a:srgbClr val="005A8A"/>
                </a:solidFill>
                <a:latin typeface="Arial"/>
              </a:rPr>
              <a:t>B. Drift and poisoning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000" b="0" i="0">
                <a:solidFill>
                  <a:srgbClr val="14202B"/>
                </a:solidFill>
                <a:latin typeface="Arial"/>
              </a:rPr>
              <a:t>A subtle poison that honestly improves its claimed metric passes admission, then a sentinel catches the damage on a metric nobody claimed. Bisect, excise, slash reputation. Memory goes 12 to 10, never to zero. tests/test_dilemma_b.py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26279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150" b="1" i="0">
                <a:solidFill>
                  <a:srgbClr val="005A8A"/>
                </a:solidFill>
                <a:latin typeface="Arial"/>
              </a:rPr>
              <a:t>C. Consistency at scale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000" b="0" i="0">
                <a:solidFill>
                  <a:srgbClr val="14202B"/>
                </a:solidFill>
                <a:latin typeface="Arial"/>
              </a:rPr>
              <a:t>A partition lets two islands learn different valid fixes. Heal is a set union, every node arbitrates identically, and a Refine split lets both truths survive with sharper scopes. tests/test_dilemma_c.py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870447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B6A78"/>
                </a:solidFill>
                <a:latin typeface="Arial"/>
              </a:rPr>
              <a:t>110 tests pass in under a second, including a determinism test: both demos produce byte-identical output on every run, chaos included.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A78"/>
                </a:solidFill>
                <a:latin typeface="Arial"/>
              </a:rPr>
              <a:t>Cognition Fabric · Team Beacon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05A8A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05A8A"/>
                </a:solidFill>
                <a:latin typeface="Arial"/>
              </a:rPr>
              <a:t>TOOLS, TECHNOLOGIES, AND IMPLEMENTATION HIGHLIGHTS</a:t>
            </a:r>
          </a:p>
          <a:p>
            <a:pPr>
              <a:spcBef>
                <a:spcPts val="400"/>
              </a:spcBef>
            </a:pPr>
            <a:r>
              <a:rPr sz="2700" b="1" i="0">
                <a:solidFill>
                  <a:srgbClr val="14202B"/>
                </a:solidFill>
                <a:latin typeface="Arial"/>
              </a:rPr>
              <a:t>Small toolset, production-grade patterns, 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40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202B"/>
                </a:solidFill>
                <a:latin typeface="Arial"/>
              </a:rPr>
              <a:t>Tools and technologies</a:t>
            </a:r>
          </a:p>
          <a:p>
            <a:pPr>
              <a:lnSpc>
                <a:spcPct val="118000"/>
              </a:lnSpc>
            </a:pPr>
            <a:r>
              <a:rPr sz="1100" b="0" i="0">
                <a:solidFill>
                  <a:srgbClr val="14202B"/>
                </a:solidFill>
                <a:latin typeface="Arial"/>
              </a:rPr>
              <a:t>Python 3.11 with asyncio, pydantic for typed schemas, rich for the dashboard, pytest, uv for the environment. Everything else is the standard library: hashlib, hmac, json, seeded random. No database, no network calls, no blockchain library. Installs in seconds and runs fully offline.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202B"/>
                </a:solidFill>
                <a:latin typeface="Arial"/>
              </a:rPr>
              <a:t>Patterns we borrowed from real systems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154680"/>
          <a:ext cx="5440680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88620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git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content-addressed capsules, provenance DAG, and bisect over memory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Dynamo, Cassandra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CRDT OR-set store, gossip anti-entropy, tombstones, AP under partition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Algorand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jury selection by hash sortition, so committees cannot be targeted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Proof-of-stake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reputation slashing for authors and jurors who signed a bad cert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Canary + CI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shadow staging before activation, golden-suite regression probes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FoundationDB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deterministic simulation testing: seeded randomness, replayable faults</a:t>
                      </a:r>
                    </a:p>
                  </a:txBody>
                  <a:tcPr marT="27432" marB="27432"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005A8A"/>
                          </a:solidFill>
                          <a:latin typeface="Arial"/>
                        </a:rPr>
                        <a:t>Cisco Talos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14202B"/>
                          </a:solidFill>
                          <a:latin typeface="Arial"/>
                        </a:rPr>
                        <a:t>validated intelligence pushed fleet-wide; we mechanize that loop for operational insights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46304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4202B"/>
                </a:solidFill>
                <a:latin typeface="Arial"/>
              </a:rPr>
              <a:t>Numbers from the actual run (fixed seeds, controlled A/B)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74519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15667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40.5%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total cost saved with fabric on vs off, same 80-task storm, same seed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2" y="1874519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34272" y="1915667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0.43x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median reuse cost vs discovery cost for a repeat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136391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77539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6.5 s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median sim-time from local discovery to fleet-wide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72" y="3136391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4272" y="3177539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110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tests, all green in under a second, determinism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398263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439411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4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probes to isolate 1 poisoned capsule among 12 (log₂ bisect)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4272" y="4398263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4272" y="4439411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12 → 10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excision removes exactly the poisoned subtree, never resets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660135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5701283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6 + 2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signed shadow records from 2+ distinct nodes before a capsule turns 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272" y="5660135"/>
            <a:ext cx="2615184" cy="41148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272" y="5701283"/>
            <a:ext cx="2615184" cy="1037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 i="0">
                <a:solidFill>
                  <a:srgbClr val="005A8A"/>
                </a:solidFill>
                <a:latin typeface="Arial"/>
              </a:rPr>
              <a:t>O(caps)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50" b="0" i="0">
                <a:solidFill>
                  <a:srgbClr val="5B6A78"/>
                </a:solidFill>
                <a:latin typeface="Arial"/>
              </a:rPr>
              <a:t>propagation cost across the mesh, no per-pair channels, no N²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940295"/>
            <a:ext cx="5440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0" i="0">
                <a:solidFill>
                  <a:srgbClr val="5B6A78"/>
                </a:solidFill>
                <a:latin typeface="Arial"/>
              </a:rPr>
              <a:t>Scale honesty: transport is an in-process bus (the problem statement allows simulation). Every algorithm above it, gossip, sortition, certificates, CRDT merge, is real and transport-agnostic. The economics claim is the controlled A/B shape, not the absolute numbers.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A78"/>
                </a:solidFill>
                <a:latin typeface="Arial"/>
              </a:rPr>
              <a:t>Cognition Fabric · Team Beacon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05A8A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05A8A"/>
                </a:solidFill>
                <a:latin typeface="Arial"/>
              </a:rPr>
              <a:t>LIVE DEMO · EVERYTHING BELOW IS REAL OUTPUT, BYTE-IDENTICAL ON EVERY RUN</a:t>
            </a:r>
          </a:p>
          <a:p>
            <a:pPr>
              <a:spcBef>
                <a:spcPts val="400"/>
              </a:spcBef>
            </a:pPr>
            <a:r>
              <a:rPr sz="2700" b="1" i="0">
                <a:solidFill>
                  <a:srgbClr val="14202B"/>
                </a:solidFill>
                <a:latin typeface="Arial"/>
              </a:rPr>
              <a:t>What you are about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406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202B"/>
                </a:solidFill>
                <a:latin typeface="Arial"/>
              </a:rPr>
              <a:t>Demo 1: the ratchet (about 40 s)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00" b="0" i="0">
                <a:solidFill>
                  <a:srgbClr val="14202B"/>
                </a:solidFill>
                <a:latin typeface="Arial"/>
              </a:rPr>
              <a:t>Fabric off: two sites pay full price for the same incident, a crash loses everything.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00" b="0" i="0">
                <a:solidFill>
                  <a:srgbClr val="14202B"/>
                </a:solidFill>
                <a:latin typeface="Arial"/>
              </a:rPr>
              <a:t>Fabric on: site-a authors a capsule, a hash-picked jury accepts it, promotion is derived across the mesh, site-c reuses it at half the cost.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00" b="0" i="0">
                <a:solidFill>
                  <a:srgbClr val="14202B"/>
                </a:solidFill>
                <a:latin typeface="Arial"/>
              </a:rPr>
              <a:t>site-d crashes again and restarts with memory. Same crash, different outcome.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50" b="1" i="0">
                <a:solidFill>
                  <a:srgbClr val="14202B"/>
                </a:solidFill>
                <a:latin typeface="Arial"/>
              </a:rPr>
              <a:t>Demo 2: chaos (about 100 s)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00" b="0" i="0">
                <a:solidFill>
                  <a:srgbClr val="14202B"/>
                </a:solidFill>
                <a:latin typeface="Arial"/>
              </a:rPr>
              <a:t>A blatant poison is blocked live, reason on screen.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00" b="0" i="0">
                <a:solidFill>
                  <a:srgbClr val="14202B"/>
                </a:solidFill>
                <a:latin typeface="Arial"/>
              </a:rPr>
              <a:t>A subtle poison honestly passes admission, a sentinel catches it on a metric nobody claimed, bisect finds it in 4 probes, excision takes memory from 12 to 10.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0079B8"/>
                </a:solidFill>
                <a:latin typeface="Arial"/>
              </a:rPr>
              <a:t>•  </a:t>
            </a:r>
            <a:r>
              <a:rPr sz="1100" b="0" i="0">
                <a:solidFill>
                  <a:srgbClr val="14202B"/>
                </a:solidFill>
                <a:latin typeface="Arial"/>
              </a:rPr>
              <a:t>A partition splits the mesh, both islands keep learning, heal converges every node on the identical decision, and a Refine split keeps both truths.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394960"/>
            <a:ext cx="45720" cy="868680"/>
          </a:xfrm>
          <a:prstGeom prst="rect">
            <a:avLst/>
          </a:prstGeom>
          <a:solidFill>
            <a:srgbClr val="00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394960"/>
            <a:ext cx="5394960" cy="868680"/>
          </a:xfrm>
          <a:prstGeom prst="rect">
            <a:avLst/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02B"/>
                </a:solidFill>
                <a:latin typeface="Arial"/>
              </a:rPr>
              <a:t>Every run is seeded. What you see live is exactly what we rehearsed, and you are welcome to re-run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B6A78"/>
                </a:solidFill>
                <a:latin typeface="Arial"/>
              </a:rPr>
              <a:t>THE GUARDRAIL,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64208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7373"/>
                </a:solidFill>
                <a:latin typeface="Courier New"/>
              </a:rPr>
              <a:t>PAWL_BLOCK</a:t>
            </a:r>
            <a:r>
              <a:rPr sz="950" b="0" i="0">
                <a:solidFill>
                  <a:srgbClr val="D8E1E8"/>
                </a:solidFill>
                <a:latin typeface="Courier New"/>
              </a:rPr>
              <a:t>: ratchet monotonicity: unknown action dimension 'allowlist_subnet'. Control-plane vocabulary is registry-only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50008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B6A78"/>
                </a:solidFill>
                <a:latin typeface="Arial"/>
              </a:rPr>
              <a:t>MEMORY HAS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51176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EF7CAB"/>
                </a:solidFill>
                <a:latin typeface="Courier New"/>
              </a:rPr>
              <a:t>DRIFT_ALARM</a:t>
            </a:r>
            <a:r>
              <a:rPr sz="950" b="0" i="0">
                <a:solidFill>
                  <a:srgbClr val="D8E1E8"/>
                </a:solidFill>
                <a:latin typeface="Courier New"/>
              </a:rPr>
              <a:t>: fp_quarantines 1 &gt; baseline 0 x (1+0.1) on golden-02-ddos_syn_flood under capsule 3598ef047e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36976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B6A78"/>
                </a:solidFill>
                <a:latin typeface="Arial"/>
              </a:rPr>
              <a:t>SURGICAL REMOVAL, NOT AMNESIA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38144"/>
            <a:ext cx="5440680" cy="749808"/>
          </a:xfrm>
          <a:prstGeom prst="roundRect">
            <a:avLst>
              <a:gd name="adj" fmla="val 8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EF7CAB"/>
                </a:solidFill>
                <a:latin typeface="Courier New"/>
              </a:rPr>
              <a:t>REVOKE</a:t>
            </a:r>
            <a:r>
              <a:rPr sz="950" b="0" i="0">
                <a:solidFill>
                  <a:srgbClr val="D8E1E8"/>
                </a:solidFill>
                <a:latin typeface="Courier New"/>
              </a:rPr>
              <a:t>: 3598ef047e tombstoned</a:t>
            </a:r>
          </a:p>
          <a:p>
            <a:pPr>
              <a:lnSpc>
                <a:spcPct val="112000"/>
              </a:lnSpc>
            </a:pPr>
            <a:r>
              <a:rPr sz="950" b="1" i="0">
                <a:solidFill>
                  <a:srgbClr val="EF7CAB"/>
                </a:solidFill>
                <a:latin typeface="Courier New"/>
              </a:rPr>
              <a:t>QUARANTINE</a:t>
            </a:r>
            <a:r>
              <a:rPr sz="950" b="0" i="0">
                <a:solidFill>
                  <a:srgbClr val="D8E1E8"/>
                </a:solidFill>
                <a:latin typeface="Courier New"/>
              </a:rPr>
              <a:t>: 71e541234f, descendant, re-jury required</a:t>
            </a:r>
          </a:p>
          <a:p>
            <a:pPr>
              <a:lnSpc>
                <a:spcPct val="112000"/>
              </a:lnSpc>
            </a:pPr>
            <a:r>
              <a:rPr sz="950" b="0" i="0">
                <a:solidFill>
                  <a:srgbClr val="D8E1E8"/>
                </a:solidFill>
                <a:latin typeface="Courier New"/>
              </a:rPr>
              <a:t>12 capsules to 10. </a:t>
            </a:r>
            <a:r>
              <a:rPr sz="950" b="1" i="0">
                <a:solidFill>
                  <a:srgbClr val="D8E1E8"/>
                </a:solidFill>
                <a:latin typeface="Courier New"/>
              </a:rPr>
              <a:t>Not to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06824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B6A78"/>
                </a:solidFill>
                <a:latin typeface="Arial"/>
              </a:rPr>
              <a:t>NO SPLIT-BRAIN AFTER HEAL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07992"/>
            <a:ext cx="5440680" cy="658368"/>
          </a:xfrm>
          <a:prstGeom prst="roundRect">
            <a:avLst>
              <a:gd name="adj" fmla="val 8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D8E1E8"/>
                </a:solidFill>
                <a:latin typeface="Courier New"/>
              </a:rPr>
              <a:t>site-a decides: </a:t>
            </a:r>
            <a:r>
              <a:rPr sz="950" b="1" i="0">
                <a:solidFill>
                  <a:srgbClr val="5BD579"/>
                </a:solidFill>
                <a:latin typeface="Courier New"/>
              </a:rPr>
              <a:t>b6f953d325</a:t>
            </a:r>
            <a:r>
              <a:rPr sz="950" b="0" i="0">
                <a:solidFill>
                  <a:srgbClr val="D8E1E8"/>
                </a:solidFill>
                <a:latin typeface="Courier New"/>
              </a:rPr>
              <a:t>  |  site-e decides: </a:t>
            </a:r>
            <a:r>
              <a:rPr sz="950" b="1" i="0">
                <a:solidFill>
                  <a:srgbClr val="5BD579"/>
                </a:solidFill>
                <a:latin typeface="Courier New"/>
              </a:rPr>
              <a:t>b6f953d325</a:t>
            </a:r>
            <a:r>
              <a:rPr sz="950" b="0" i="0">
                <a:solidFill>
                  <a:srgbClr val="8B98A5"/>
                </a:solidFill>
                <a:latin typeface="Courier New"/>
              </a:rPr>
              <a:t>  identical on all 5 nodes</a:t>
            </a:r>
          </a:p>
          <a:p>
            <a:pPr>
              <a:lnSpc>
                <a:spcPct val="112000"/>
              </a:lnSpc>
            </a:pPr>
            <a:r>
              <a:rPr sz="950" b="1" i="0">
                <a:solidFill>
                  <a:srgbClr val="6FD9E6"/>
                </a:solidFill>
                <a:latin typeface="Courier New"/>
              </a:rPr>
              <a:t>REFINE</a:t>
            </a:r>
            <a:r>
              <a:rPr sz="950" b="0" i="0">
                <a:solidFill>
                  <a:srgbClr val="D8E1E8"/>
                </a:solidFill>
                <a:latin typeface="Courier New"/>
              </a:rPr>
              <a:t>: split along 'traffic_gbps' at 5.5, both capsules survive, scoped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285232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B6A78"/>
                </a:solidFill>
                <a:latin typeface="Arial"/>
              </a:rPr>
              <a:t>THE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486400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5BD579"/>
                </a:solidFill>
                <a:latin typeface="Courier New"/>
              </a:rPr>
              <a:t>Lane A saved 40.52% vs Lane B over 80 tasks</a:t>
            </a:r>
            <a:r>
              <a:rPr sz="950" b="0" i="0">
                <a:solidFill>
                  <a:srgbClr val="8B98A5"/>
                </a:solidFill>
                <a:latin typeface="Courier New"/>
              </a:rPr>
              <a:t>  (same seed, fabric on vs off)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A78"/>
                </a:solidFill>
                <a:latin typeface="Arial"/>
              </a:rPr>
              <a:t>Cognition Fabric · Team Beacon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05A8A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